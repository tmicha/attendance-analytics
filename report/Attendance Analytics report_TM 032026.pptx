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9" r:id="rId10"/>
    <p:sldId id="270" r:id="rId11"/>
    <p:sldId id="272" r:id="rId12"/>
    <p:sldId id="263" r:id="rId13"/>
    <p:sldId id="264" r:id="rId14"/>
    <p:sldId id="265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3D79C-0B80-4486-9358-2F42F4E0D0E5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9995A7-E008-4548-BBEC-B9FEB78A7F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9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9995A7-E008-4548-BBEC-B9FEB78A7F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41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28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23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9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39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99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26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8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88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38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30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88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107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28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85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95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40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AA61FB9-8FE5-45C7-AD10-0BE668C103AF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42A6FB-E976-4C34-B320-3B5D730FA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1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9488D-4EB3-0DEC-9D80-D633295A3E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Attendance Analytics &amp; Student Engagement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97C77-668C-1B96-59CD-0F0329471C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9398" y="3996267"/>
            <a:ext cx="6093624" cy="40247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Identifying Engagement Patterns &amp; At-Risk Students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916F00A-F445-0751-9297-33E95F3BA184}"/>
              </a:ext>
            </a:extLst>
          </p:cNvPr>
          <p:cNvSpPr txBox="1">
            <a:spLocks/>
          </p:cNvSpPr>
          <p:nvPr/>
        </p:nvSpPr>
        <p:spPr>
          <a:xfrm>
            <a:off x="9723120" y="5972566"/>
            <a:ext cx="1779902" cy="8854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By: Taiye Michaels </a:t>
            </a:r>
          </a:p>
          <a:p>
            <a:r>
              <a:rPr lang="en-US" dirty="0"/>
              <a:t>March , 2026</a:t>
            </a:r>
          </a:p>
        </p:txBody>
      </p:sp>
    </p:spTree>
    <p:extLst>
      <p:ext uri="{BB962C8B-B14F-4D97-AF65-F5344CB8AC3E}">
        <p14:creationId xmlns:p14="http://schemas.microsoft.com/office/powerpoint/2010/main" val="174392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CE8D-91DA-9652-16B7-66CA6ABE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5457FF-A113-87ED-19E4-CF1FB3EE59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11444" y="1837809"/>
            <a:ext cx="92662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Virtual learning environments lack visibility into student engagement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Instructors struggle to identify disengaged or at-risk students early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Attendance alone does not fully capture participation quality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1C821D-9033-22DA-6ED9-F9FECCD009AF}"/>
              </a:ext>
            </a:extLst>
          </p:cNvPr>
          <p:cNvSpPr txBox="1"/>
          <p:nvPr/>
        </p:nvSpPr>
        <p:spPr>
          <a:xfrm>
            <a:off x="10644520" y="6611779"/>
            <a:ext cx="12905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By: Taiye Michaels </a:t>
            </a:r>
          </a:p>
        </p:txBody>
      </p:sp>
    </p:spTree>
    <p:extLst>
      <p:ext uri="{BB962C8B-B14F-4D97-AF65-F5344CB8AC3E}">
        <p14:creationId xmlns:p14="http://schemas.microsoft.com/office/powerpoint/2010/main" val="362096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D2BE-E0D5-7248-8E98-C56D64551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7A82-16E3-D3F3-D9E1-C1F6AC3A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Project Objectives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A5694A-6BC4-4533-6FDA-A9C41D006F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48906" y="2165427"/>
            <a:ext cx="575510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Analyze attendance behavior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Identify engagement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Flag at-risk students for early intervention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5EB37-CEBC-CBA8-DC59-DC4B468F56FF}"/>
              </a:ext>
            </a:extLst>
          </p:cNvPr>
          <p:cNvSpPr txBox="1"/>
          <p:nvPr/>
        </p:nvSpPr>
        <p:spPr>
          <a:xfrm>
            <a:off x="10644520" y="6611779"/>
            <a:ext cx="12905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By: Taiye Michaels </a:t>
            </a:r>
          </a:p>
        </p:txBody>
      </p:sp>
    </p:spTree>
    <p:extLst>
      <p:ext uri="{BB962C8B-B14F-4D97-AF65-F5344CB8AC3E}">
        <p14:creationId xmlns:p14="http://schemas.microsoft.com/office/powerpoint/2010/main" val="770959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317E-F6BD-EEC0-F62F-D1E7D5D8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750E-16F4-11D7-6E1D-8A8AC084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157" y="0"/>
            <a:ext cx="10018713" cy="1752599"/>
          </a:xfrm>
        </p:spPr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4FF915-E8FA-8BC8-29FC-3D3C8FAB37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0797" y="1194911"/>
            <a:ext cx="8717524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Source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Behavior-driven synthetic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Records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11,000+ attendance logs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Students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300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Sessions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50–60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 </a:t>
            </a:r>
            <a:r>
              <a:rPr lang="en-GB" dirty="0"/>
              <a:t>Includes realistic patterns (late joins, early exits, missing values)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GB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b="1" dirty="0"/>
              <a:t> Features</a:t>
            </a:r>
            <a:r>
              <a:rPr lang="en-GB" altLang="en-US" dirty="0"/>
              <a:t>: Session_id, student_id, joined_at, left_at, engagement_level, session_duration, day_of_week and hour</a:t>
            </a: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GB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81461-D031-8E73-1041-6C845AAD3794}"/>
              </a:ext>
            </a:extLst>
          </p:cNvPr>
          <p:cNvSpPr txBox="1"/>
          <p:nvPr/>
        </p:nvSpPr>
        <p:spPr>
          <a:xfrm>
            <a:off x="10644520" y="6611779"/>
            <a:ext cx="12905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By: Taiye Michaels </a:t>
            </a:r>
          </a:p>
        </p:txBody>
      </p:sp>
    </p:spTree>
    <p:extLst>
      <p:ext uri="{BB962C8B-B14F-4D97-AF65-F5344CB8AC3E}">
        <p14:creationId xmlns:p14="http://schemas.microsoft.com/office/powerpoint/2010/main" val="419096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129E1-C9B4-C30A-55DA-4D415CD8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41D5-5392-0FAF-7C19-9AE3448D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716" y="0"/>
            <a:ext cx="10018713" cy="1281223"/>
          </a:xfrm>
        </p:spPr>
        <p:txBody>
          <a:bodyPr/>
          <a:lstStyle/>
          <a:p>
            <a:r>
              <a:rPr lang="en-US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BCAC1-6109-D092-9580-02ECC58CB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9656" y="1281223"/>
            <a:ext cx="8743386" cy="509831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sz="3800" b="1" dirty="0"/>
              <a:t>1. Data Preparation</a:t>
            </a:r>
            <a:endParaRPr lang="en-GB" sz="3800" dirty="0"/>
          </a:p>
          <a:p>
            <a:r>
              <a:rPr lang="en-GB" sz="3800" dirty="0"/>
              <a:t>Cleaned missing and invalid records </a:t>
            </a:r>
          </a:p>
          <a:p>
            <a:r>
              <a:rPr lang="en-GB" sz="3800" dirty="0"/>
              <a:t>Converted datetime fields </a:t>
            </a:r>
          </a:p>
          <a:p>
            <a:r>
              <a:rPr lang="en-GB" sz="3800" dirty="0"/>
              <a:t>Created session duration, day of week and hour features </a:t>
            </a:r>
          </a:p>
          <a:p>
            <a:pPr marL="0" indent="0">
              <a:buNone/>
            </a:pPr>
            <a:endParaRPr lang="en-GB" sz="3800" dirty="0"/>
          </a:p>
          <a:p>
            <a:pPr marL="0" indent="0">
              <a:buNone/>
            </a:pPr>
            <a:r>
              <a:rPr lang="en-GB" sz="3800" b="1" dirty="0"/>
              <a:t>2. Feature Engineering</a:t>
            </a:r>
            <a:endParaRPr lang="en-GB" sz="3800" dirty="0"/>
          </a:p>
          <a:p>
            <a:r>
              <a:rPr lang="en-GB" sz="3800" dirty="0"/>
              <a:t>Attendance rate </a:t>
            </a:r>
          </a:p>
          <a:p>
            <a:r>
              <a:rPr lang="en-GB" sz="3800" dirty="0"/>
              <a:t>Average session duration </a:t>
            </a:r>
          </a:p>
          <a:p>
            <a:r>
              <a:rPr lang="en-GB" sz="3800" dirty="0"/>
              <a:t>Total sessions attended </a:t>
            </a:r>
          </a:p>
          <a:p>
            <a:r>
              <a:rPr lang="en-GB" sz="3800" dirty="0"/>
              <a:t>Most active day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4A3DE-339D-C7EA-0D84-8106FC86BC67}"/>
              </a:ext>
            </a:extLst>
          </p:cNvPr>
          <p:cNvSpPr txBox="1"/>
          <p:nvPr/>
        </p:nvSpPr>
        <p:spPr>
          <a:xfrm>
            <a:off x="10644520" y="6611779"/>
            <a:ext cx="129052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By: Taiye Michaels </a:t>
            </a:r>
          </a:p>
        </p:txBody>
      </p:sp>
    </p:spTree>
    <p:extLst>
      <p:ext uri="{BB962C8B-B14F-4D97-AF65-F5344CB8AC3E}">
        <p14:creationId xmlns:p14="http://schemas.microsoft.com/office/powerpoint/2010/main" val="199918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E9E17-61E7-F01A-14D3-44AED268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159D-B055-D925-3A82-A508C938B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981" y="207335"/>
            <a:ext cx="10018713" cy="1270591"/>
          </a:xfrm>
        </p:spPr>
        <p:txBody>
          <a:bodyPr/>
          <a:lstStyle/>
          <a:p>
            <a:r>
              <a:rPr lang="en-US" b="1" dirty="0"/>
              <a:t>Methodology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BEF9C-371B-6349-33A6-23720DE26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8981" y="1169583"/>
            <a:ext cx="7843485" cy="472279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3. Analysis</a:t>
            </a:r>
            <a:endParaRPr lang="en-GB" dirty="0"/>
          </a:p>
          <a:p>
            <a:r>
              <a:rPr lang="en-GB" dirty="0"/>
              <a:t>Time-based trends </a:t>
            </a:r>
          </a:p>
          <a:p>
            <a:r>
              <a:rPr lang="en-GB" dirty="0"/>
              <a:t>Student engagement patterns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4. Modeling</a:t>
            </a:r>
            <a:endParaRPr lang="en-GB" dirty="0"/>
          </a:p>
          <a:p>
            <a:r>
              <a:rPr lang="en-GB" dirty="0"/>
              <a:t>Rule-based At-Risk classification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7A708-AB16-253D-60B8-509DCC2B4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382" y="657756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08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A000-2068-8958-C231-AF7DE731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0D559-0CB0-46E9-2FE4-B292CC95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218" y="127937"/>
            <a:ext cx="7308480" cy="1105786"/>
          </a:xfrm>
        </p:spPr>
        <p:txBody>
          <a:bodyPr/>
          <a:lstStyle/>
          <a:p>
            <a:r>
              <a:rPr lang="en-US" b="1" dirty="0"/>
              <a:t>Key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2BB93-3F33-DB98-33CD-623F316D6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3557" y="1539948"/>
            <a:ext cx="2577551" cy="3352801"/>
          </a:xfrm>
        </p:spPr>
        <p:txBody>
          <a:bodyPr/>
          <a:lstStyle/>
          <a:p>
            <a:r>
              <a:rPr lang="en-GB" b="1" dirty="0"/>
              <a:t>Top 10 most active students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20880-765F-259C-E429-BAD56147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108" y="1539948"/>
            <a:ext cx="7589651" cy="4191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9B62D0-0033-1461-2CAB-2CDB7AF3D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8015" y="657756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21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054A7-13FB-F29A-85A2-94A1B42C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16F4-D12A-0B12-1330-284855DC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1423" y="69111"/>
            <a:ext cx="8047443" cy="1190847"/>
          </a:xfrm>
        </p:spPr>
        <p:txBody>
          <a:bodyPr/>
          <a:lstStyle/>
          <a:p>
            <a:r>
              <a:rPr lang="en-US" b="1" dirty="0"/>
              <a:t>Key Visualizations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89155-26AF-16E7-CDFC-A33737F7B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759" y="1534717"/>
            <a:ext cx="2075493" cy="3124201"/>
          </a:xfrm>
        </p:spPr>
        <p:txBody>
          <a:bodyPr/>
          <a:lstStyle/>
          <a:p>
            <a:r>
              <a:rPr lang="en-US" b="1" dirty="0"/>
              <a:t>Attendance trend over time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39FAB-D36C-8B79-4D64-D7E955077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990" y="1448059"/>
            <a:ext cx="8356900" cy="4139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3FBB4B-0917-F745-E437-F131539F5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4658" y="657756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73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2467F-B5C0-A6E4-1ED1-17487A03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0E42A-48F9-6BEA-B16B-17E7D77F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177" y="159488"/>
            <a:ext cx="7561172" cy="983512"/>
          </a:xfrm>
        </p:spPr>
        <p:txBody>
          <a:bodyPr/>
          <a:lstStyle/>
          <a:p>
            <a:r>
              <a:rPr lang="en-US" b="1" dirty="0"/>
              <a:t>Key Visualizations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A10E-7D7D-E8F2-9CBF-45FEE6D8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2903" y="1907037"/>
            <a:ext cx="2476460" cy="2549237"/>
          </a:xfrm>
        </p:spPr>
        <p:txBody>
          <a:bodyPr/>
          <a:lstStyle/>
          <a:p>
            <a:r>
              <a:rPr lang="en-GB" b="1" dirty="0"/>
              <a:t>Day vs Hour  of engagement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AE0AA-408B-2196-7631-8EEBE2D9E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843" y="1143000"/>
            <a:ext cx="8071498" cy="4759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ED0720-0204-69D2-0AC4-C47171D5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066" y="653171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19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BBFE-1506-4E09-41B9-B77823C9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BB95-9C92-F6CC-A7E0-7F63D654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024" y="0"/>
            <a:ext cx="7510498" cy="1299452"/>
          </a:xfrm>
        </p:spPr>
        <p:txBody>
          <a:bodyPr/>
          <a:lstStyle/>
          <a:p>
            <a:r>
              <a:rPr lang="en-US" b="1" dirty="0"/>
              <a:t>Key Visualizations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9D39C-F17A-F3D0-E663-5D7D661FB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702" y="1783559"/>
            <a:ext cx="2197738" cy="3124201"/>
          </a:xfrm>
        </p:spPr>
        <p:txBody>
          <a:bodyPr/>
          <a:lstStyle/>
          <a:p>
            <a:r>
              <a:rPr lang="en-US" b="1" dirty="0"/>
              <a:t>Session duration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23814-5601-B007-D5E5-DF31EF828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23" y="1299452"/>
            <a:ext cx="8230449" cy="4771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9548E7-3D18-9A8F-09E3-0100C0427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9331" y="6531711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80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6ABF9-90BB-F48A-288F-B1AB4461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F1F8-0321-A160-39DD-11082F25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033" y="116959"/>
            <a:ext cx="6548252" cy="1244009"/>
          </a:xfrm>
        </p:spPr>
        <p:txBody>
          <a:bodyPr/>
          <a:lstStyle/>
          <a:p>
            <a:r>
              <a:rPr lang="en-US" b="1" dirty="0"/>
              <a:t>Key Visualizations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71124-5749-E1B3-2975-172B61746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232" y="2023729"/>
            <a:ext cx="2153730" cy="2687375"/>
          </a:xfrm>
        </p:spPr>
        <p:txBody>
          <a:bodyPr/>
          <a:lstStyle/>
          <a:p>
            <a:r>
              <a:rPr lang="en-US" b="1" dirty="0"/>
              <a:t>Session duration by engagement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0EC3D-3A2B-D536-4AE4-F90FB06ED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193" y="1308733"/>
            <a:ext cx="7497117" cy="4868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9D1202-D3D2-D50E-AF78-FD31BE2CB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536" y="6537027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1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DCD8-9205-C98F-CB31-D41D4A4B4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C59C-6277-9059-46A7-812BD7E0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39" y="-277332"/>
            <a:ext cx="10018713" cy="1752599"/>
          </a:xfrm>
        </p:spPr>
        <p:txBody>
          <a:bodyPr/>
          <a:lstStyle/>
          <a:p>
            <a:r>
              <a:rPr lang="en-US" b="1" dirty="0"/>
              <a:t>At-Risk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F2E7-1650-195A-95FB-7F96A5EBE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1254" y="2496878"/>
            <a:ext cx="10018713" cy="312420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/>
              <a:t>Approach:</a:t>
            </a:r>
            <a:r>
              <a:rPr lang="en-US" sz="9600" dirty="0"/>
              <a:t> Rule-based classification</a:t>
            </a:r>
          </a:p>
          <a:p>
            <a:pPr marL="0" indent="0">
              <a:buNone/>
            </a:pPr>
            <a:endParaRPr lang="en-GB" sz="9600" b="1" dirty="0"/>
          </a:p>
          <a:p>
            <a:pPr marL="0" indent="0">
              <a:buNone/>
            </a:pPr>
            <a:r>
              <a:rPr lang="en-GB" sz="9600" b="1" dirty="0"/>
              <a:t>Criteria: </a:t>
            </a:r>
            <a:endParaRPr lang="en-GB" sz="9600" dirty="0"/>
          </a:p>
          <a:p>
            <a:r>
              <a:rPr lang="en-GB" sz="9600" dirty="0"/>
              <a:t>When attendance rate &lt; 50% </a:t>
            </a:r>
          </a:p>
          <a:p>
            <a:r>
              <a:rPr lang="en-GB" sz="9600" dirty="0"/>
              <a:t>OR average session duration &lt; 20 minutes </a:t>
            </a:r>
          </a:p>
          <a:p>
            <a:pPr marL="0" indent="0">
              <a:buNone/>
            </a:pPr>
            <a:endParaRPr lang="en-GB" sz="9600" b="1" dirty="0"/>
          </a:p>
          <a:p>
            <a:pPr marL="0" indent="0">
              <a:buNone/>
            </a:pPr>
            <a:r>
              <a:rPr lang="en-GB" sz="9600" b="1" dirty="0"/>
              <a:t>Output:</a:t>
            </a:r>
            <a:endParaRPr lang="en-GB" sz="9600" dirty="0"/>
          </a:p>
          <a:p>
            <a:r>
              <a:rPr lang="en-GB" sz="9600" dirty="0"/>
              <a:t>Binary classification: 0 → Active </a:t>
            </a:r>
          </a:p>
          <a:p>
            <a:pPr marL="457200" lvl="1" indent="0">
              <a:buNone/>
            </a:pPr>
            <a:r>
              <a:rPr lang="en-GB" sz="9600" dirty="0"/>
              <a:t>                                            1 → At-Risk</a:t>
            </a:r>
          </a:p>
          <a:p>
            <a:pPr marL="0" indent="0">
              <a:buNone/>
            </a:pPr>
            <a:r>
              <a:rPr lang="en-US" sz="9600" b="1" dirty="0"/>
              <a:t>Value:</a:t>
            </a:r>
            <a:endParaRPr lang="en-US" sz="9600" dirty="0"/>
          </a:p>
          <a:p>
            <a:r>
              <a:rPr lang="en-US" sz="9600" dirty="0"/>
              <a:t>Simple, interpretable and actionable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05A80-DF49-18AC-1ADB-4B9D61CAD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1861" y="657756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12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9E649-30D0-D3BF-E042-C97B8A7C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02A4E-2927-FA51-D807-DC5AE494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107" y="58009"/>
            <a:ext cx="10018713" cy="1140736"/>
          </a:xfrm>
        </p:spPr>
        <p:txBody>
          <a:bodyPr/>
          <a:lstStyle/>
          <a:p>
            <a:r>
              <a:rPr lang="en-US" b="1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CD3B6C-B85F-B96B-1000-E8E6194382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48107" y="991409"/>
            <a:ext cx="10018714" cy="4875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GB" dirty="0"/>
              <a:t>A small group of students consistently attends the highest number of sessions.</a:t>
            </a:r>
          </a:p>
          <a:p>
            <a:r>
              <a:rPr lang="en-GB" dirty="0"/>
              <a:t>Peaks suggest participants’ high-interest sessions or favourable timing.</a:t>
            </a:r>
          </a:p>
          <a:p>
            <a:r>
              <a:rPr lang="en-GB" dirty="0"/>
              <a:t>Attendance is concentrated during 9am till 3pm, this appears to be the peak participation time.</a:t>
            </a:r>
          </a:p>
          <a:p>
            <a:r>
              <a:rPr lang="en-GB" dirty="0"/>
              <a:t>Weekdays witnessed higher rates of engagement as compared to weekends.</a:t>
            </a:r>
          </a:p>
          <a:p>
            <a:r>
              <a:rPr lang="en-GB" dirty="0"/>
              <a:t>The most engaging sessions falls within 50 - 75 minutes.</a:t>
            </a:r>
          </a:p>
          <a:p>
            <a:r>
              <a:rPr lang="en-GB" dirty="0"/>
              <a:t>The least engaging sessions falls below 20mins.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B23A17-0C69-5693-71A9-A338B65B8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382" y="657756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954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232E1-2803-A9DF-E8E2-35665CC4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C8A8E-9C5C-0F5C-5652-7FC97209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7460" y="103585"/>
            <a:ext cx="10018713" cy="1050047"/>
          </a:xfrm>
        </p:spPr>
        <p:txBody>
          <a:bodyPr/>
          <a:lstStyle/>
          <a:p>
            <a:r>
              <a:rPr lang="en-US" b="1" dirty="0"/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2D9378-E263-377C-4D80-2BD8F2758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00259" y="1209374"/>
            <a:ext cx="9733039" cy="4582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GB" altLang="en-US" dirty="0"/>
              <a:t> Monitor students with consistently short durations.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GB" altLang="en-US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Schedule key sessions during peak engagement hours </a:t>
            </a:r>
            <a:r>
              <a:rPr lang="en-GB" dirty="0"/>
              <a:t>i.e. 9am till 10am on Tuesdays and 3pm on Thursdays.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Improve interactivity to reduce early drop-offs.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/>
              <a:t>Avoid low-engagement time slots.</a:t>
            </a:r>
          </a:p>
          <a:p>
            <a:pPr marL="0" indent="0">
              <a:buNone/>
            </a:pPr>
            <a:endParaRPr lang="en-US" dirty="0"/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Reassess low engaging sessions for a content curriculum versus intended audience fit.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CE994-BECE-9DDC-AB26-DBD6688FA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792" y="657756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560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8E97-F5DE-C3B7-182D-73162771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0BDF8-5C85-2FE1-918E-403B9FCF9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911" y="2179675"/>
            <a:ext cx="4613461" cy="1752599"/>
          </a:xfrm>
        </p:spPr>
        <p:txBody>
          <a:bodyPr/>
          <a:lstStyle/>
          <a:p>
            <a:r>
              <a:rPr lang="en-GB" b="1" i="1" dirty="0"/>
              <a:t>Thank You !</a:t>
            </a:r>
            <a:endParaRPr lang="en-US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46EAC-E0A3-5F5C-A451-7C3963E33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536" y="6577560"/>
            <a:ext cx="1292464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81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81</TotalTime>
  <Words>426</Words>
  <Application>Microsoft Office PowerPoint</Application>
  <PresentationFormat>Widescreen</PresentationFormat>
  <Paragraphs>96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Corbel</vt:lpstr>
      <vt:lpstr>Parallax</vt:lpstr>
      <vt:lpstr>Attendance Analytics &amp; Student Engagement</vt:lpstr>
      <vt:lpstr>Problem Statement</vt:lpstr>
      <vt:lpstr>Project Objectives</vt:lpstr>
      <vt:lpstr>Dataset Overview</vt:lpstr>
      <vt:lpstr>Methodology</vt:lpstr>
      <vt:lpstr>Methodology (Cont.)</vt:lpstr>
      <vt:lpstr>Key Visualizations</vt:lpstr>
      <vt:lpstr>Key Visualizations (Cont.)</vt:lpstr>
      <vt:lpstr>Key Visualizations (Cont.)</vt:lpstr>
      <vt:lpstr>Key Visualizations (Cont.)</vt:lpstr>
      <vt:lpstr>Key Visualizations (Cont.)</vt:lpstr>
      <vt:lpstr>At-Risk Model</vt:lpstr>
      <vt:lpstr>Key Insights</vt:lpstr>
      <vt:lpstr>Recommendations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Taiye Michaels</dc:creator>
  <cp:lastModifiedBy>Taiye Michaels</cp:lastModifiedBy>
  <cp:revision>10</cp:revision>
  <dcterms:created xsi:type="dcterms:W3CDTF">2026-04-06T23:27:24Z</dcterms:created>
  <dcterms:modified xsi:type="dcterms:W3CDTF">2026-04-07T00:48:43Z</dcterms:modified>
</cp:coreProperties>
</file>